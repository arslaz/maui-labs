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B7280"/>
                </a:solidFill>
                <a:latin typeface="Arial"/>
              </a:defRPr>
            </a:pPr>
            <a:r>
              <a:t>ПРЕЗЕНТАЦИЯ ПО ГЕОГРАФИИ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111827"/>
                </a:solidFill>
                <a:latin typeface="Arial"/>
              </a:defRPr>
            </a:pPr>
            <a:r>
              <a:t>Климат США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B7280"/>
                </a:solidFill>
                <a:latin typeface="Arial"/>
              </a:defRPr>
            </a:pPr>
            <a:r>
              <a:t>Природные факторы, климатические пояса и региональные контрасты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931920"/>
            <a:ext cx="9966960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38912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B7280"/>
                </a:solidFill>
                <a:latin typeface="Arial"/>
              </a:defRPr>
            </a:pPr>
            <a:r>
              <a:t>ВЫПОЛНИЛ</a:t>
            </a:r>
          </a:p>
          <a:p>
            <a:pPr>
              <a:spcBef>
                <a:spcPts val="400"/>
              </a:spcBef>
              <a:defRPr sz="2000" b="1">
                <a:solidFill>
                  <a:srgbClr val="111827"/>
                </a:solidFill>
                <a:latin typeface="Arial"/>
              </a:defRPr>
            </a:pPr>
            <a:r>
              <a:t>Лазаревич Арсений</a:t>
            </a:r>
          </a:p>
          <a:p>
            <a:pPr>
              <a:spcBef>
                <a:spcPts val="200"/>
              </a:spcBef>
              <a:defRPr sz="1400">
                <a:solidFill>
                  <a:srgbClr val="6B7280"/>
                </a:solidFill>
                <a:latin typeface="Arial"/>
              </a:defRPr>
            </a:pPr>
            <a:r>
              <a:t>Группа ПО2311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4389120"/>
            <a:ext cx="4480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B7280"/>
                </a:solidFill>
                <a:latin typeface="Arial"/>
              </a:defRPr>
            </a:pPr>
            <a:r>
              <a:t>ОСНОВНОЙ ТЕЗИС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  <a:latin typeface="Arial"/>
              </a:defRPr>
            </a:pPr>
            <a:r>
              <a:t>Благодаря масштабу территории и уникальному рельефу в США представлены почти все климатические зоны Земли — от арктической тундры до тропических островов.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94360"/>
            <a:ext cx="103628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B7280"/>
                </a:solidFill>
                <a:latin typeface="Arial"/>
              </a:defRPr>
            </a:pPr>
            <a:r>
              <a:t>02 / ОБЩИЕ ФАКТОРЫ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628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Ключевые климатообразующие факторы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36192"/>
            <a:ext cx="1036289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r>
              <a:t>Три главных географических условия, определяющих погоду на континенте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29968"/>
            <a:ext cx="10362895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331720"/>
            <a:ext cx="3246120" cy="3931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606040"/>
            <a:ext cx="269748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B7280"/>
                </a:solidFill>
                <a:latin typeface="Arial"/>
              </a:defRPr>
            </a:pPr>
            <a:r>
              <a:t>01</a:t>
            </a:r>
          </a:p>
          <a:p>
            <a:pPr>
              <a:spcBef>
                <a:spcPts val="600"/>
              </a:spcBef>
              <a:defRPr sz="1600" b="1">
                <a:solidFill>
                  <a:srgbClr val="111827"/>
                </a:solidFill>
                <a:latin typeface="Arial"/>
              </a:defRPr>
            </a:pPr>
            <a:r>
              <a:t>Океаническое влияние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Тихий и Атлантический океаны формируют противоположные режимы:</a:t>
            </a:r>
            <a:br/>
            <a:br/>
            <a:r>
              <a:t>• Холодное Калифорнийское течение стабилизирует западное побережье и снижает температуры.</a:t>
            </a:r>
            <a:br/>
            <a:r>
              <a:t>• Теплый Гольфстрим насыщает влагой юго-восток и усиливает тропические циклоны.</a:t>
            </a:r>
            <a:br/>
            <a:r>
              <a:t>• Разница температур океанов создает мощный градиент давления.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71416" y="2331720"/>
            <a:ext cx="3246120" cy="3931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45736" y="2606040"/>
            <a:ext cx="269748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B7280"/>
                </a:solidFill>
                <a:latin typeface="Arial"/>
              </a:defRPr>
            </a:pPr>
            <a:r>
              <a:t>02</a:t>
            </a:r>
          </a:p>
          <a:p>
            <a:pPr>
              <a:spcBef>
                <a:spcPts val="600"/>
              </a:spcBef>
              <a:defRPr sz="1600" b="1">
                <a:solidFill>
                  <a:srgbClr val="111827"/>
                </a:solidFill>
                <a:latin typeface="Arial"/>
              </a:defRPr>
            </a:pPr>
            <a:r>
              <a:t>Меридиональный рельеф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Горные системы ориентированы с севера на юг, а не с запада на восток:</a:t>
            </a:r>
            <a:br/>
            <a:br/>
            <a:r>
              <a:t>• Кордильеры на западе блокируют тихоокеанские осадки во внутренние районы.</a:t>
            </a:r>
            <a:br/>
            <a:r>
              <a:t>• Аппалачи на востоке умеренно задерживают воздушные массы.</a:t>
            </a:r>
            <a:br/>
            <a:r>
              <a:t>• Центральные равнины образуют открытый коридор для сквозного движения арктических и тропических масс.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28432" y="2331720"/>
            <a:ext cx="3246120" cy="3931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2606040"/>
            <a:ext cx="269748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B7280"/>
                </a:solidFill>
                <a:latin typeface="Arial"/>
              </a:defRPr>
            </a:pPr>
            <a:r>
              <a:t>03</a:t>
            </a:r>
          </a:p>
          <a:p>
            <a:pPr>
              <a:spcBef>
                <a:spcPts val="600"/>
              </a:spcBef>
              <a:defRPr sz="1600" b="1">
                <a:solidFill>
                  <a:srgbClr val="111827"/>
                </a:solidFill>
                <a:latin typeface="Arial"/>
              </a:defRPr>
            </a:pPr>
            <a:r>
              <a:t>Широтный диапазон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Колоссальная протяженность территории с севера на юг:</a:t>
            </a:r>
            <a:br/>
            <a:br/>
            <a:r>
              <a:t>• От мыса Барроу на Аляске (71° с.ш.) до острова Гавайи (19° с.ш.).</a:t>
            </a:r>
            <a:br/>
            <a:r>
              <a:t>• Континентальная часть (Lower 48) расположена между 25° и 49° с.ш.</a:t>
            </a:r>
            <a:br/>
            <a:r>
              <a:t>• Охватывает умеренный, субтропический, арктический и тропический пояса.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94360"/>
            <a:ext cx="103628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B7280"/>
                </a:solidFill>
                <a:latin typeface="Arial"/>
              </a:defRPr>
            </a:pPr>
            <a:r>
              <a:t>03 / ЗАПАДНОЕ ПОБЕРЕЖЬЕ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628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Тихоокеанский регион и Кордильеры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36192"/>
            <a:ext cx="1036289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r>
              <a:t>От влажных хвойных дождевых лесов до сухого средиземноморского юга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29968"/>
            <a:ext cx="10362895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331720"/>
            <a:ext cx="5029200" cy="3931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438912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B7280"/>
                </a:solidFill>
                <a:latin typeface="Arial"/>
              </a:defRPr>
            </a:pPr>
            <a:r>
              <a:t>СЕВЕРО-ЗАПАД (ТИХООКЕАНСКИЙ)</a:t>
            </a:r>
          </a:p>
          <a:p>
            <a:pPr>
              <a:spcBef>
                <a:spcPts val="400"/>
              </a:spcBef>
              <a:defRPr sz="1800" b="1">
                <a:solidFill>
                  <a:srgbClr val="111827"/>
                </a:solidFill>
                <a:latin typeface="Arial"/>
              </a:defRPr>
            </a:pPr>
            <a:r>
              <a:t>Штаты Вашингтон и Орегон</a:t>
            </a:r>
          </a:p>
          <a:p>
            <a:pPr>
              <a:spcBef>
                <a:spcPts val="1000"/>
              </a:spcBef>
              <a:defRPr sz="1100" b="1">
                <a:solidFill>
                  <a:srgbClr val="111827"/>
                </a:solidFill>
                <a:latin typeface="Arial"/>
              </a:defRPr>
            </a:pPr>
            <a:r>
              <a:t>• Климатический тип: </a:t>
            </a:r>
            <a:r>
              <a:rPr sz="1100" b="0">
                <a:solidFill>
                  <a:srgbClr val="1E293B"/>
                </a:solidFill>
                <a:latin typeface="Arial"/>
              </a:rPr>
              <a:t>Умеренный морской климат с океаническим влиянием.</a:t>
            </a:r>
          </a:p>
          <a:p>
            <a:pPr>
              <a:spcBef>
                <a:spcPts val="1000"/>
              </a:spcBef>
              <a:defRPr sz="1100" b="1">
                <a:solidFill>
                  <a:srgbClr val="111827"/>
                </a:solidFill>
                <a:latin typeface="Arial"/>
              </a:defRPr>
            </a:pPr>
            <a:r>
              <a:t>• Температурный режим: </a:t>
            </a:r>
            <a:r>
              <a:rPr sz="1100" b="0">
                <a:solidFill>
                  <a:srgbClr val="1E293B"/>
                </a:solidFill>
                <a:latin typeface="Arial"/>
              </a:rPr>
              <a:t>Мягкая зима (+3...+7°C) без затяжных морозов, умеренно прохладное лето (+19...+23°C).</a:t>
            </a:r>
          </a:p>
          <a:p>
            <a:pPr>
              <a:spcBef>
                <a:spcPts val="1000"/>
              </a:spcBef>
              <a:defRPr sz="1100" b="1">
                <a:solidFill>
                  <a:srgbClr val="111827"/>
                </a:solidFill>
                <a:latin typeface="Arial"/>
              </a:defRPr>
            </a:pPr>
            <a:r>
              <a:t>• Осадки: </a:t>
            </a:r>
            <a:r>
              <a:rPr sz="1100" b="0">
                <a:solidFill>
                  <a:srgbClr val="1E293B"/>
                </a:solidFill>
                <a:latin typeface="Arial"/>
              </a:rPr>
              <a:t>Рекордный уровень осадков: до 2000–3500 мм в предгорьях Каскадных гор. Густые умеренные дождевые леса.</a:t>
            </a:r>
          </a:p>
          <a:p>
            <a:pPr>
              <a:spcBef>
                <a:spcPts val="1000"/>
              </a:spcBef>
              <a:defRPr sz="1100" b="1">
                <a:solidFill>
                  <a:srgbClr val="111827"/>
                </a:solidFill>
                <a:latin typeface="Arial"/>
              </a:defRPr>
            </a:pPr>
            <a:r>
              <a:t>• Характерная погода: </a:t>
            </a:r>
            <a:r>
              <a:rPr sz="1100" b="0">
                <a:solidFill>
                  <a:srgbClr val="1E293B"/>
                </a:solidFill>
                <a:latin typeface="Arial"/>
              </a:rPr>
              <a:t>Постоянная высокая облачность, частые моросящие дожди и густые океанические туманы с октября по май.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2331720"/>
            <a:ext cx="5029200" cy="3931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2606040"/>
            <a:ext cx="438912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B7280"/>
                </a:solidFill>
                <a:latin typeface="Arial"/>
              </a:defRPr>
            </a:pPr>
            <a:r>
              <a:t>КАЛИФОРНИЙСКОЕ ПОБЕРЕЖЬЕ</a:t>
            </a:r>
          </a:p>
          <a:p>
            <a:pPr>
              <a:spcBef>
                <a:spcPts val="400"/>
              </a:spcBef>
              <a:defRPr sz="1800" b="1">
                <a:solidFill>
                  <a:srgbClr val="111827"/>
                </a:solidFill>
                <a:latin typeface="Arial"/>
              </a:defRPr>
            </a:pPr>
            <a:r>
              <a:t>Центральная и Южная Калифорния</a:t>
            </a:r>
          </a:p>
          <a:p>
            <a:pPr>
              <a:spcBef>
                <a:spcPts val="1000"/>
              </a:spcBef>
              <a:defRPr sz="1100" b="1">
                <a:solidFill>
                  <a:srgbClr val="111827"/>
                </a:solidFill>
                <a:latin typeface="Arial"/>
              </a:defRPr>
            </a:pPr>
            <a:r>
              <a:t>• Климатический тип: </a:t>
            </a:r>
            <a:r>
              <a:rPr sz="1100" b="0">
                <a:solidFill>
                  <a:srgbClr val="1E293B"/>
                </a:solidFill>
                <a:latin typeface="Arial"/>
              </a:rPr>
              <a:t>Классический средиземноморский климат.</a:t>
            </a:r>
          </a:p>
          <a:p>
            <a:pPr>
              <a:spcBef>
                <a:spcPts val="1000"/>
              </a:spcBef>
              <a:defRPr sz="1100" b="1">
                <a:solidFill>
                  <a:srgbClr val="111827"/>
                </a:solidFill>
                <a:latin typeface="Arial"/>
              </a:defRPr>
            </a:pPr>
            <a:r>
              <a:t>• Температурный режим: </a:t>
            </a:r>
            <a:r>
              <a:rPr sz="1100" b="0">
                <a:solidFill>
                  <a:srgbClr val="1E293B"/>
                </a:solidFill>
                <a:latin typeface="Arial"/>
              </a:rPr>
              <a:t>Теплая сухая погода летом (+22...+28°C), мягкая дождливая зима (+12...+16°C).</a:t>
            </a:r>
          </a:p>
          <a:p>
            <a:pPr>
              <a:spcBef>
                <a:spcPts val="1000"/>
              </a:spcBef>
              <a:defRPr sz="1100" b="1">
                <a:solidFill>
                  <a:srgbClr val="111827"/>
                </a:solidFill>
                <a:latin typeface="Arial"/>
              </a:defRPr>
            </a:pPr>
            <a:r>
              <a:t>• Прибрежные туманы: </a:t>
            </a:r>
            <a:r>
              <a:rPr sz="1100" b="0">
                <a:solidFill>
                  <a:srgbClr val="1E293B"/>
                </a:solidFill>
                <a:latin typeface="Arial"/>
              </a:rPr>
              <a:t>Холодное Калифорнийское течение порождает регулярный прибрежный туман (Marine Layer), охлаждающий Сан-Франциско.</a:t>
            </a:r>
          </a:p>
          <a:p>
            <a:pPr>
              <a:spcBef>
                <a:spcPts val="1000"/>
              </a:spcBef>
              <a:defRPr sz="1100" b="1">
                <a:solidFill>
                  <a:srgbClr val="111827"/>
                </a:solidFill>
                <a:latin typeface="Arial"/>
              </a:defRPr>
            </a:pPr>
            <a:r>
              <a:t>• Сезонные риски: </a:t>
            </a:r>
            <a:r>
              <a:rPr sz="1100" b="0">
                <a:solidFill>
                  <a:srgbClr val="1E293B"/>
                </a:solidFill>
                <a:latin typeface="Arial"/>
              </a:rPr>
              <a:t>Длительные периоды засухи с мая по октябрь, сухие ветры «Санта-Ана» и высокий риск лесных пожаров.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94360"/>
            <a:ext cx="103628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B7280"/>
                </a:solidFill>
                <a:latin typeface="Arial"/>
              </a:defRPr>
            </a:pPr>
            <a:r>
              <a:t>04 / ЮГО-ЗАПАД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628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Аридный Юго-Запад и Пустыни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36192"/>
            <a:ext cx="1036289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r>
              <a:t>Эффект дождевой тени Кордильер и экстремальные термические максимумы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29968"/>
            <a:ext cx="10362895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331720"/>
            <a:ext cx="6217920" cy="3931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557784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B7280"/>
                </a:solidFill>
                <a:latin typeface="Arial"/>
              </a:defRPr>
            </a:pPr>
            <a:r>
              <a:t>ГЕОГРАФИЯ И МЕХАНИЗМ АРИДНОСТИ</a:t>
            </a:r>
          </a:p>
          <a:p>
            <a:pPr>
              <a:spcBef>
                <a:spcPts val="400"/>
              </a:spcBef>
              <a:defRPr sz="1800" b="1">
                <a:solidFill>
                  <a:srgbClr val="111827"/>
                </a:solidFill>
                <a:latin typeface="Arial"/>
              </a:defRPr>
            </a:pPr>
            <a:r>
              <a:t>Штаты Невада, Аризона, Нью-Мексико, Юта</a:t>
            </a:r>
          </a:p>
          <a:p>
            <a:pPr>
              <a:spcBef>
                <a:spcPts val="800"/>
              </a:spcBef>
              <a:defRPr sz="1100" b="1">
                <a:solidFill>
                  <a:srgbClr val="111827"/>
                </a:solidFill>
                <a:latin typeface="Arial"/>
              </a:defRPr>
            </a:pPr>
            <a:r>
              <a:t>• Эффект «дождевой тени»: </a:t>
            </a:r>
            <a:r>
              <a:rPr sz="1100" b="0">
                <a:solidFill>
                  <a:srgbClr val="1E293B"/>
                </a:solidFill>
                <a:latin typeface="Arial"/>
              </a:rPr>
              <a:t>Хребты Сьерра-Невада и Каскадные горы полностью задерживают тихоокеанский влажный воздух, оставляя межгорные плато без осадков.</a:t>
            </a:r>
          </a:p>
          <a:p>
            <a:pPr>
              <a:spcBef>
                <a:spcPts val="800"/>
              </a:spcBef>
              <a:defRPr sz="1100" b="1">
                <a:solidFill>
                  <a:srgbClr val="111827"/>
                </a:solidFill>
                <a:latin typeface="Arial"/>
              </a:defRPr>
            </a:pPr>
            <a:r>
              <a:t>• Норма осадков: </a:t>
            </a:r>
            <a:r>
              <a:rPr sz="1100" b="0">
                <a:solidFill>
                  <a:srgbClr val="1E293B"/>
                </a:solidFill>
                <a:latin typeface="Arial"/>
              </a:rPr>
              <a:t>От 70 до 250 мм в год. Во многих районах дожди не выпадают месяцами.</a:t>
            </a:r>
          </a:p>
          <a:p>
            <a:pPr>
              <a:spcBef>
                <a:spcPts val="800"/>
              </a:spcBef>
              <a:defRPr sz="1100" b="1">
                <a:solidFill>
                  <a:srgbClr val="111827"/>
                </a:solidFill>
                <a:latin typeface="Arial"/>
              </a:defRPr>
            </a:pPr>
            <a:r>
              <a:t>• Летний муссон: </a:t>
            </a:r>
            <a:r>
              <a:rPr sz="1100" b="0">
                <a:solidFill>
                  <a:srgbClr val="1E293B"/>
                </a:solidFill>
                <a:latin typeface="Arial"/>
              </a:rPr>
              <a:t>В июле-августе на юго-запад проникает влажный воздух с Калифорнийского залива, вызывая кратковременные ливни и внезапные паводки (flash floods).</a:t>
            </a:r>
          </a:p>
          <a:p>
            <a:pPr>
              <a:spcBef>
                <a:spcPts val="800"/>
              </a:spcBef>
              <a:defRPr sz="1100" b="1">
                <a:solidFill>
                  <a:srgbClr val="111827"/>
                </a:solidFill>
                <a:latin typeface="Arial"/>
              </a:defRPr>
            </a:pPr>
            <a:r>
              <a:t>• Суточные амплитуды: </a:t>
            </a:r>
            <a:r>
              <a:rPr sz="1100" b="0">
                <a:solidFill>
                  <a:srgbClr val="1E293B"/>
                </a:solidFill>
                <a:latin typeface="Arial"/>
              </a:rPr>
              <a:t>Из-за сухой атмосферы и отсутствия облаков тепло быстро уходит: ночью температура падает на 20–25°C относительно дневного пика.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34072" y="2331720"/>
            <a:ext cx="3840480" cy="121615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62672" y="2468880"/>
            <a:ext cx="3383280" cy="941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11827"/>
                </a:solidFill>
                <a:latin typeface="Arial"/>
              </a:defRPr>
            </a:pPr>
            <a:r>
              <a:t>+56.7 °C</a:t>
            </a:r>
          </a:p>
          <a:p>
            <a:pPr>
              <a:defRPr sz="1000" b="1">
                <a:solidFill>
                  <a:srgbClr val="6B7280"/>
                </a:solidFill>
                <a:latin typeface="Arial"/>
              </a:defRPr>
            </a:pPr>
            <a:r>
              <a:t>Мировой рекорд жары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Зафиксирован в Долине Смерти (Калифорния, Фернис-Крик). Абсолютный максимум температуры воздуха на Земле.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34072" y="3685032"/>
            <a:ext cx="3840480" cy="121615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2" y="3822192"/>
            <a:ext cx="3383280" cy="941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11827"/>
                </a:solidFill>
                <a:latin typeface="Arial"/>
              </a:defRPr>
            </a:pPr>
            <a:r>
              <a:t>&lt; 50 мм</a:t>
            </a:r>
          </a:p>
          <a:p>
            <a:pPr>
              <a:defRPr sz="1000" b="1">
                <a:solidFill>
                  <a:srgbClr val="6B7280"/>
                </a:solidFill>
                <a:latin typeface="Arial"/>
              </a:defRPr>
            </a:pPr>
            <a:r>
              <a:t>Годовые минимумы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В самых засушливых котловинах пустыни Мохаве осадки практически отсутствуют годами.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34072" y="5038344"/>
            <a:ext cx="3840480" cy="121615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62672" y="5175504"/>
            <a:ext cx="3383280" cy="941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11827"/>
                </a:solidFill>
                <a:latin typeface="Arial"/>
              </a:defRPr>
            </a:pPr>
            <a:r>
              <a:t>+45 °C</a:t>
            </a:r>
          </a:p>
          <a:p>
            <a:pPr>
              <a:defRPr sz="1000" b="1">
                <a:solidFill>
                  <a:srgbClr val="6B7280"/>
                </a:solidFill>
                <a:latin typeface="Arial"/>
              </a:defRPr>
            </a:pPr>
            <a:r>
              <a:t>Стандартная норма лета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Среднедневная летняя температура в городах Феникс и Лас-Вегас.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94360"/>
            <a:ext cx="103628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B7280"/>
                </a:solidFill>
                <a:latin typeface="Arial"/>
              </a:defRPr>
            </a:pPr>
            <a:r>
              <a:t>05 / ВЕЛИКИЕ РАВНИНЫ И МИДВЕСТ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628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Великие равнины и Аллея Торнадо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36192"/>
            <a:ext cx="1036289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r>
              <a:t>Резкая континентальность и глобальный эпицентр опасных погодных явлений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29968"/>
            <a:ext cx="10362895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331720"/>
            <a:ext cx="5029200" cy="3931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438912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B7280"/>
                </a:solidFill>
                <a:latin typeface="Arial"/>
              </a:defRPr>
            </a:pPr>
            <a:r>
              <a:t>КОНТИНЕНТАЛЬНЫЙ РЕЖИМ</a:t>
            </a:r>
          </a:p>
          <a:p>
            <a:pPr>
              <a:spcBef>
                <a:spcPts val="400"/>
              </a:spcBef>
              <a:defRPr sz="1800" b="1">
                <a:solidFill>
                  <a:srgbClr val="111827"/>
                </a:solidFill>
                <a:latin typeface="Arial"/>
              </a:defRPr>
            </a:pPr>
            <a:r>
              <a:t>Внутренние равнины континента</a:t>
            </a:r>
          </a:p>
          <a:p>
            <a:pPr>
              <a:spcBef>
                <a:spcPts val="1000"/>
              </a:spcBef>
              <a:defRPr sz="1100" b="1">
                <a:solidFill>
                  <a:srgbClr val="111827"/>
                </a:solidFill>
                <a:latin typeface="Arial"/>
              </a:defRPr>
            </a:pPr>
            <a:r>
              <a:t>• Географический охват: </a:t>
            </a:r>
            <a:r>
              <a:rPr sz="1100" b="0">
                <a:solidFill>
                  <a:srgbClr val="1E293B"/>
                </a:solidFill>
                <a:latin typeface="Arial"/>
              </a:rPr>
              <a:t>Северная и Южная Дакота, Небраска, Канзас, Миннесота, Айова.</a:t>
            </a:r>
          </a:p>
          <a:p>
            <a:pPr>
              <a:spcBef>
                <a:spcPts val="1000"/>
              </a:spcBef>
              <a:defRPr sz="1100" b="1">
                <a:solidFill>
                  <a:srgbClr val="111827"/>
                </a:solidFill>
                <a:latin typeface="Arial"/>
              </a:defRPr>
            </a:pPr>
            <a:r>
              <a:t>• Экстремальные сезоны: </a:t>
            </a:r>
            <a:r>
              <a:rPr sz="1100" b="0">
                <a:solidFill>
                  <a:srgbClr val="1E293B"/>
                </a:solidFill>
                <a:latin typeface="Arial"/>
              </a:rPr>
              <a:t>Зимы суровые и ветреные (до -25...-35°C), лето жаркое и душное (до +35...+40°C).</a:t>
            </a:r>
          </a:p>
          <a:p>
            <a:pPr>
              <a:spcBef>
                <a:spcPts val="1000"/>
              </a:spcBef>
              <a:defRPr sz="1100" b="1">
                <a:solidFill>
                  <a:srgbClr val="111827"/>
                </a:solidFill>
                <a:latin typeface="Arial"/>
              </a:defRPr>
            </a:pPr>
            <a:r>
              <a:t>• Отсутствие барьеров: </a:t>
            </a:r>
            <a:r>
              <a:rPr sz="1100" b="0">
                <a:solidFill>
                  <a:srgbClr val="1E293B"/>
                </a:solidFill>
                <a:latin typeface="Arial"/>
              </a:rPr>
              <a:t>Прямое столкновение ледяного полярного воздуха из Канады и горячего субтропического из Техаса.</a:t>
            </a:r>
          </a:p>
          <a:p>
            <a:pPr>
              <a:spcBef>
                <a:spcPts val="1000"/>
              </a:spcBef>
              <a:defRPr sz="1100" b="1">
                <a:solidFill>
                  <a:srgbClr val="111827"/>
                </a:solidFill>
                <a:latin typeface="Arial"/>
              </a:defRPr>
            </a:pPr>
            <a:r>
              <a:t>• Резкие смены погоды: </a:t>
            </a:r>
            <a:r>
              <a:rPr sz="1100" b="0">
                <a:solidFill>
                  <a:srgbClr val="1E293B"/>
                </a:solidFill>
                <a:latin typeface="Arial"/>
              </a:rPr>
              <a:t>Температура может упасть или вырасти на 20–25°C всего за несколько часов при прохождении холодного фронта (Cold Wave).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2331720"/>
            <a:ext cx="5029200" cy="3931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2606040"/>
            <a:ext cx="438912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B7280"/>
                </a:solidFill>
                <a:latin typeface="Arial"/>
              </a:defRPr>
            </a:pPr>
            <a:r>
              <a:t>ФЕНОМЕН «АЛЛЕИ ТОРНАДО»</a:t>
            </a:r>
          </a:p>
          <a:p>
            <a:pPr>
              <a:spcBef>
                <a:spcPts val="400"/>
              </a:spcBef>
              <a:defRPr sz="1800" b="1">
                <a:solidFill>
                  <a:srgbClr val="111827"/>
                </a:solidFill>
                <a:latin typeface="Arial"/>
              </a:defRPr>
            </a:pPr>
            <a:r>
              <a:t>Tornado Alley (Техас — Небраска)</a:t>
            </a:r>
          </a:p>
          <a:p>
            <a:pPr>
              <a:spcBef>
                <a:spcPts val="1000"/>
              </a:spcBef>
              <a:defRPr sz="1100" b="1">
                <a:solidFill>
                  <a:srgbClr val="111827"/>
                </a:solidFill>
                <a:latin typeface="Arial"/>
              </a:defRPr>
            </a:pPr>
            <a:r>
              <a:t>• Механизм возникновения: </a:t>
            </a:r>
            <a:r>
              <a:rPr sz="1100" b="0">
                <a:solidFill>
                  <a:srgbClr val="1E293B"/>
                </a:solidFill>
                <a:latin typeface="Arial"/>
              </a:rPr>
              <a:t>Сухой воздух со Скалистых гор натекает на влажные теплые массы с Мексиканского залива, создавая нестабильность атмосферы.</a:t>
            </a:r>
          </a:p>
          <a:p>
            <a:pPr>
              <a:spcBef>
                <a:spcPts val="1000"/>
              </a:spcBef>
              <a:defRPr sz="1100" b="1">
                <a:solidFill>
                  <a:srgbClr val="111827"/>
                </a:solidFill>
                <a:latin typeface="Arial"/>
              </a:defRPr>
            </a:pPr>
            <a:r>
              <a:t>• Суперъячейки: </a:t>
            </a:r>
            <a:r>
              <a:rPr sz="1100" b="0">
                <a:solidFill>
                  <a:srgbClr val="1E293B"/>
                </a:solidFill>
                <a:latin typeface="Arial"/>
              </a:rPr>
              <a:t>Формирование мощных грозовых суперъячеек со шквалами, гигантским градом и смерчами.</a:t>
            </a:r>
          </a:p>
          <a:p>
            <a:pPr>
              <a:spcBef>
                <a:spcPts val="1000"/>
              </a:spcBef>
              <a:defRPr sz="1100" b="1">
                <a:solidFill>
                  <a:srgbClr val="111827"/>
                </a:solidFill>
                <a:latin typeface="Arial"/>
              </a:defRPr>
            </a:pPr>
            <a:r>
              <a:t>• Мировая концентрация: </a:t>
            </a:r>
            <a:r>
              <a:rPr sz="1100" b="0">
                <a:solidFill>
                  <a:srgbClr val="1E293B"/>
                </a:solidFill>
                <a:latin typeface="Arial"/>
              </a:rPr>
              <a:t>В США регистрируется свыше 1200 торнадо ежегодно — больше, чем в любой другой стране планеты.</a:t>
            </a:r>
          </a:p>
          <a:p>
            <a:pPr>
              <a:spcBef>
                <a:spcPts val="1000"/>
              </a:spcBef>
              <a:defRPr sz="1100" b="1">
                <a:solidFill>
                  <a:srgbClr val="111827"/>
                </a:solidFill>
                <a:latin typeface="Arial"/>
              </a:defRPr>
            </a:pPr>
            <a:r>
              <a:t>• Пиковый сезон: </a:t>
            </a:r>
            <a:r>
              <a:rPr sz="1100" b="0">
                <a:solidFill>
                  <a:srgbClr val="1E293B"/>
                </a:solidFill>
                <a:latin typeface="Arial"/>
              </a:rPr>
              <a:t>С апреля по июнь на Великих равнинах наблюдается максимальная частота разрушительных вихрей.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94360"/>
            <a:ext cx="103628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B7280"/>
                </a:solidFill>
                <a:latin typeface="Arial"/>
              </a:defRPr>
            </a:pPr>
            <a:r>
              <a:t>06 / ВОСТОЧНОЕ ПОБЕРЕЖЬЕ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628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Северо-Восток и Субтропический Юг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36192"/>
            <a:ext cx="1036289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r>
              <a:t>Контраст влажного умеренного севера и зоны атлантических ураганов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29968"/>
            <a:ext cx="10362895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331720"/>
            <a:ext cx="5029200" cy="3931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438912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B7280"/>
                </a:solidFill>
                <a:latin typeface="Arial"/>
              </a:defRPr>
            </a:pPr>
            <a:r>
              <a:t>СЕВЕРО-ВОСТОК И ВЕЛИКИЕ ОЗЕРА</a:t>
            </a:r>
          </a:p>
          <a:p>
            <a:pPr>
              <a:spcBef>
                <a:spcPts val="400"/>
              </a:spcBef>
              <a:defRPr sz="1800" b="1">
                <a:solidFill>
                  <a:srgbClr val="111827"/>
                </a:solidFill>
                <a:latin typeface="Arial"/>
              </a:defRPr>
            </a:pPr>
            <a:r>
              <a:t>Нью-Йорк, Бостон, Чикаго</a:t>
            </a:r>
          </a:p>
          <a:p>
            <a:pPr>
              <a:spcBef>
                <a:spcPts val="1000"/>
              </a:spcBef>
              <a:defRPr sz="1100" b="1">
                <a:solidFill>
                  <a:srgbClr val="111827"/>
                </a:solidFill>
                <a:latin typeface="Arial"/>
              </a:defRPr>
            </a:pPr>
            <a:r>
              <a:t>• Климатический тип: </a:t>
            </a:r>
            <a:r>
              <a:rPr sz="1100" b="0">
                <a:solidFill>
                  <a:srgbClr val="1E293B"/>
                </a:solidFill>
                <a:latin typeface="Arial"/>
              </a:rPr>
              <a:t>Влажный континентальный климат с выраженными 4 сезонами.</a:t>
            </a:r>
          </a:p>
          <a:p>
            <a:pPr>
              <a:spcBef>
                <a:spcPts val="1000"/>
              </a:spcBef>
              <a:defRPr sz="1100" b="1">
                <a:solidFill>
                  <a:srgbClr val="111827"/>
                </a:solidFill>
                <a:latin typeface="Arial"/>
              </a:defRPr>
            </a:pPr>
            <a:r>
              <a:t>• Зимний период: </a:t>
            </a:r>
            <a:r>
              <a:rPr sz="1100" b="0">
                <a:solidFill>
                  <a:srgbClr val="1E293B"/>
                </a:solidFill>
                <a:latin typeface="Arial"/>
              </a:rPr>
              <a:t>Снежные заносы, метели и штормы «норд-осты» (Nor'easters) с Атлантики. Температура -5...-15°C.</a:t>
            </a:r>
          </a:p>
          <a:p>
            <a:pPr>
              <a:spcBef>
                <a:spcPts val="1000"/>
              </a:spcBef>
              <a:defRPr sz="1100" b="1">
                <a:solidFill>
                  <a:srgbClr val="111827"/>
                </a:solidFill>
                <a:latin typeface="Arial"/>
              </a:defRPr>
            </a:pPr>
            <a:r>
              <a:t>• Эффект Великих озер: </a:t>
            </a:r>
            <a:r>
              <a:rPr sz="1100" b="0">
                <a:solidFill>
                  <a:srgbClr val="1E293B"/>
                </a:solidFill>
                <a:latin typeface="Arial"/>
              </a:rPr>
              <a:t>Lake-effect snow: холодный воздух над теплой водой озер вызывает колоссальные снегопады в Баффало и Сиракузах.</a:t>
            </a:r>
          </a:p>
          <a:p>
            <a:pPr>
              <a:spcBef>
                <a:spcPts val="1000"/>
              </a:spcBef>
              <a:defRPr sz="1100" b="1">
                <a:solidFill>
                  <a:srgbClr val="111827"/>
                </a:solidFill>
                <a:latin typeface="Arial"/>
              </a:defRPr>
            </a:pPr>
            <a:r>
              <a:t>• Лето: </a:t>
            </a:r>
            <a:r>
              <a:rPr sz="1100" b="0">
                <a:solidFill>
                  <a:srgbClr val="1E293B"/>
                </a:solidFill>
                <a:latin typeface="Arial"/>
              </a:rPr>
              <a:t>Теплое и влажное (+24...+29°C), периодические грозы.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2331720"/>
            <a:ext cx="5029200" cy="3931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2606040"/>
            <a:ext cx="438912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B7280"/>
                </a:solidFill>
                <a:latin typeface="Arial"/>
              </a:defRPr>
            </a:pPr>
            <a:r>
              <a:t>ЮГО-ВОСТОК И ФЛОРИДА</a:t>
            </a:r>
          </a:p>
          <a:p>
            <a:pPr>
              <a:spcBef>
                <a:spcPts val="400"/>
              </a:spcBef>
              <a:defRPr sz="1800" b="1">
                <a:solidFill>
                  <a:srgbClr val="111827"/>
                </a:solidFill>
                <a:latin typeface="Arial"/>
              </a:defRPr>
            </a:pPr>
            <a:r>
              <a:t>Флорида, Джорджия, Луизиана, Техас</a:t>
            </a:r>
          </a:p>
          <a:p>
            <a:pPr>
              <a:spcBef>
                <a:spcPts val="1000"/>
              </a:spcBef>
              <a:defRPr sz="1100" b="1">
                <a:solidFill>
                  <a:srgbClr val="111827"/>
                </a:solidFill>
                <a:latin typeface="Arial"/>
              </a:defRPr>
            </a:pPr>
            <a:r>
              <a:t>• Климатический тип: </a:t>
            </a:r>
            <a:r>
              <a:rPr sz="1100" b="0">
                <a:solidFill>
                  <a:srgbClr val="1E293B"/>
                </a:solidFill>
                <a:latin typeface="Arial"/>
              </a:rPr>
              <a:t>Влажный субтропический, на самом юге Флориды (Майами) — тропический влажный.</a:t>
            </a:r>
          </a:p>
          <a:p>
            <a:pPr>
              <a:spcBef>
                <a:spcPts val="1000"/>
              </a:spcBef>
              <a:defRPr sz="1100" b="1">
                <a:solidFill>
                  <a:srgbClr val="111827"/>
                </a:solidFill>
                <a:latin typeface="Arial"/>
              </a:defRPr>
            </a:pPr>
            <a:r>
              <a:t>• Летний период: </a:t>
            </a:r>
            <a:r>
              <a:rPr sz="1100" b="0">
                <a:solidFill>
                  <a:srgbClr val="1E293B"/>
                </a:solidFill>
                <a:latin typeface="Arial"/>
              </a:rPr>
              <a:t>Долгое жаркое лето (+30...+34°C) с практически ежедневными послеполуденными грозами.</a:t>
            </a:r>
          </a:p>
          <a:p>
            <a:pPr>
              <a:spcBef>
                <a:spcPts val="1000"/>
              </a:spcBef>
              <a:defRPr sz="1100" b="1">
                <a:solidFill>
                  <a:srgbClr val="111827"/>
                </a:solidFill>
                <a:latin typeface="Arial"/>
              </a:defRPr>
            </a:pPr>
            <a:r>
              <a:t>• Сезон ураганов: </a:t>
            </a:r>
            <a:r>
              <a:rPr sz="1100" b="0">
                <a:solidFill>
                  <a:srgbClr val="1E293B"/>
                </a:solidFill>
                <a:latin typeface="Arial"/>
              </a:rPr>
              <a:t>С 1 июня по 30 ноября побережье подвергается ударам мощных тропических циклонов категории 3–5.</a:t>
            </a:r>
          </a:p>
          <a:p>
            <a:pPr>
              <a:spcBef>
                <a:spcPts val="1000"/>
              </a:spcBef>
              <a:defRPr sz="1100" b="1">
                <a:solidFill>
                  <a:srgbClr val="111827"/>
                </a:solidFill>
                <a:latin typeface="Arial"/>
              </a:defRPr>
            </a:pPr>
            <a:r>
              <a:t>• Осадки: </a:t>
            </a:r>
            <a:r>
              <a:rPr sz="1100" b="0">
                <a:solidFill>
                  <a:srgbClr val="1E293B"/>
                </a:solidFill>
                <a:latin typeface="Arial"/>
              </a:rPr>
              <a:t>Равномерные обильные осадки круглый год (1200–1600 мм), отсутствие заморозков на юге.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94360"/>
            <a:ext cx="103628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B7280"/>
                </a:solidFill>
                <a:latin typeface="Arial"/>
              </a:defRPr>
            </a:pPr>
            <a:r>
              <a:t>07 / ЭКСТРЕМАЛЬНЫЕ РЕГИОНЫ И 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628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Аляска, Гавайи и Общий итог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36192"/>
            <a:ext cx="1036289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r>
              <a:t>Контрасты внешних территорий и уникальность климатической карты США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29968"/>
            <a:ext cx="10362895" cy="13716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331720"/>
            <a:ext cx="3246120" cy="3931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606040"/>
            <a:ext cx="269748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B7280"/>
                </a:solidFill>
                <a:latin typeface="Arial"/>
              </a:defRPr>
            </a:pPr>
            <a:r>
              <a:t>СУБАРКТИКА И АРКТИКА</a:t>
            </a:r>
          </a:p>
          <a:p>
            <a:pPr>
              <a:spcBef>
                <a:spcPts val="400"/>
              </a:spcBef>
              <a:defRPr sz="1600" b="1">
                <a:solidFill>
                  <a:srgbClr val="111827"/>
                </a:solidFill>
                <a:latin typeface="Arial"/>
              </a:defRPr>
            </a:pPr>
            <a:r>
              <a:t>Аляска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  <a:latin typeface="Arial"/>
              </a:defRPr>
            </a:pPr>
            <a:r>
              <a:t>• Арктический и субарктический климатические пояса.</a:t>
            </a:r>
            <a:br/>
            <a:r>
              <a:t>• Зимние минимумы достигают -50...-62°C во внутренних районах (Юкон).</a:t>
            </a:r>
            <a:br/>
            <a:r>
              <a:t>• Вечная мерзлота покрывает около 85% территории штата.</a:t>
            </a:r>
            <a:br/>
            <a:r>
              <a:t>• На южном побережье (Джуно) климат мягче благодаря Тихому океану, но выпадает до 4000 мм осадков.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71416" y="2331720"/>
            <a:ext cx="3246120" cy="3931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45736" y="2606040"/>
            <a:ext cx="269748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B7280"/>
                </a:solidFill>
                <a:latin typeface="Arial"/>
              </a:defRPr>
            </a:pPr>
            <a:r>
              <a:t>ТРОПИЧЕСКАЯ ОКЕАНИЯ</a:t>
            </a:r>
          </a:p>
          <a:p>
            <a:pPr>
              <a:spcBef>
                <a:spcPts val="400"/>
              </a:spcBef>
              <a:defRPr sz="1600" b="1">
                <a:solidFill>
                  <a:srgbClr val="111827"/>
                </a:solidFill>
                <a:latin typeface="Arial"/>
              </a:defRPr>
            </a:pPr>
            <a:r>
              <a:t>Гавайские острова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  <a:latin typeface="Arial"/>
              </a:defRPr>
            </a:pPr>
            <a:r>
              <a:t>• Морской тропический пассатный климат.</a:t>
            </a:r>
            <a:br/>
            <a:r>
              <a:t>• Круглогодично стабильная комфортная температура: +24...+30°C.</a:t>
            </a:r>
            <a:br/>
            <a:r>
              <a:t>• Рельеф создает контрастные микроклиматы: наветренные склоны крайне влажные, подветренные — засушливые.</a:t>
            </a:r>
            <a:br/>
            <a:r>
              <a:t>• Гора Ваиалеале — одно из самых дождливых мест мира (до 11 500 мм осадков).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28432" y="2331720"/>
            <a:ext cx="3246120" cy="3931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2606040"/>
            <a:ext cx="269748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B7280"/>
                </a:solidFill>
                <a:latin typeface="Arial"/>
              </a:defRPr>
            </a:pPr>
            <a:r>
              <a:t>ГЛАВНЫЙ ИТОГ</a:t>
            </a:r>
          </a:p>
          <a:p>
            <a:pPr>
              <a:spcBef>
                <a:spcPts val="400"/>
              </a:spcBef>
              <a:defRPr sz="1600" b="1">
                <a:solidFill>
                  <a:srgbClr val="111827"/>
                </a:solidFill>
                <a:latin typeface="Arial"/>
              </a:defRPr>
            </a:pPr>
            <a:r>
              <a:t>Заключение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  <a:latin typeface="Arial"/>
              </a:defRPr>
            </a:pPr>
            <a:r>
              <a:t>• Полный спектр: В пределах одной страны представлены почти все климатические зоны мира (от арктических льдов до тропических атоллов).</a:t>
            </a:r>
            <a:br/>
            <a:r>
              <a:t>• Контрастность: Отсутствие поперечных горных барьеров делает погоду США одной из самых динамичных и штормовых на планете.</a:t>
            </a:r>
            <a:br/>
            <a:r>
              <a:t>• Экономическое влияние: Разнообразие климата сформировало специализированные пояса сельского хозяйства (Кукурузный, Пшеничный, Хлопковый).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